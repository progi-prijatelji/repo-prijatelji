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4"/>
  </p:notesMasterIdLst>
  <p:sldIdLst>
    <p:sldId id="265" r:id="rId3"/>
    <p:sldId id="257" r:id="rId4"/>
    <p:sldId id="266" r:id="rId5"/>
    <p:sldId id="267" r:id="rId6"/>
    <p:sldId id="268" r:id="rId7"/>
    <p:sldId id="276" r:id="rId8"/>
    <p:sldId id="259" r:id="rId9"/>
    <p:sldId id="269" r:id="rId10"/>
    <p:sldId id="261" r:id="rId11"/>
    <p:sldId id="277" r:id="rId12"/>
    <p:sldId id="275" r:id="rId13"/>
    <p:sldId id="260" r:id="rId14"/>
    <p:sldId id="262" r:id="rId15"/>
    <p:sldId id="279" r:id="rId16"/>
    <p:sldId id="280" r:id="rId17"/>
    <p:sldId id="278" r:id="rId18"/>
    <p:sldId id="274" r:id="rId19"/>
    <p:sldId id="281" r:id="rId20"/>
    <p:sldId id="282" r:id="rId21"/>
    <p:sldId id="263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79" d="100"/>
          <a:sy n="79" d="100"/>
        </p:scale>
        <p:origin x="658" y="77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4000" noProof="0" dirty="0"/>
              <a:t>Flip memo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en-GB" sz="1400" dirty="0"/>
              <a:t>08</a:t>
            </a:r>
            <a:r>
              <a:rPr lang="hr-HR" sz="1400" noProof="0" dirty="0"/>
              <a:t>.</a:t>
            </a:r>
            <a:r>
              <a:rPr lang="en-GB" sz="1400" dirty="0"/>
              <a:t>2</a:t>
            </a:r>
            <a:r>
              <a:rPr lang="hr-HR" sz="1400" noProof="0" dirty="0"/>
              <a:t> </a:t>
            </a:r>
            <a:r>
              <a:rPr lang="en-GB" sz="1400" noProof="0" dirty="0" err="1"/>
              <a:t>Prijatelji</a:t>
            </a:r>
            <a:endParaRPr lang="hr-HR" sz="1400" noProof="0" dirty="0"/>
          </a:p>
          <a:p>
            <a:r>
              <a:rPr lang="hr-HR" noProof="0" dirty="0"/>
              <a:t>Ak. god. 2025./2025</a:t>
            </a:r>
            <a:r>
              <a:rPr lang="en-GB" noProof="0" dirty="0"/>
              <a:t>6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Filip </a:t>
            </a:r>
            <a:r>
              <a:rPr lang="en-GB" noProof="0" dirty="0" err="1"/>
              <a:t>Jengi</a:t>
            </a:r>
            <a:r>
              <a:rPr lang="hr-HR" noProof="0" dirty="0"/>
              <a:t>ć – Dokumentacija</a:t>
            </a:r>
          </a:p>
          <a:p>
            <a:r>
              <a:rPr lang="hr-HR" dirty="0"/>
              <a:t>Fran Juričić – Dokumentacija</a:t>
            </a:r>
          </a:p>
          <a:p>
            <a:r>
              <a:rPr lang="hr-HR" noProof="0" dirty="0"/>
              <a:t>Eva </a:t>
            </a:r>
            <a:r>
              <a:rPr lang="hr-HR" dirty="0"/>
              <a:t>Kitonić – Backend</a:t>
            </a:r>
          </a:p>
          <a:p>
            <a:r>
              <a:rPr lang="hr-HR" dirty="0"/>
              <a:t>Nikša Mujo – Frontend</a:t>
            </a:r>
          </a:p>
          <a:p>
            <a:r>
              <a:rPr lang="hr-HR" noProof="0" dirty="0"/>
              <a:t>Dora </a:t>
            </a:r>
            <a:r>
              <a:rPr lang="hr-HR" dirty="0"/>
              <a:t>Zaninović – Frontend</a:t>
            </a:r>
          </a:p>
          <a:p>
            <a:r>
              <a:rPr lang="hr-HR" noProof="0" dirty="0"/>
              <a:t>Ema </a:t>
            </a:r>
            <a:r>
              <a:rPr lang="hr-HR" dirty="0"/>
              <a:t>Zebić – Baza podataka</a:t>
            </a:r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731" y="984333"/>
            <a:ext cx="7424268" cy="2377782"/>
          </a:xfrm>
        </p:spPr>
        <p:txBody>
          <a:bodyPr>
            <a:normAutofit/>
          </a:bodyPr>
          <a:lstStyle/>
          <a:p>
            <a:pPr lvl="0"/>
            <a:r>
              <a:rPr lang="hr-HR" altLang="sr-Latn-RS" dirty="0"/>
              <a:t>aplikacija za učenje stranog jezika </a:t>
            </a:r>
          </a:p>
          <a:p>
            <a:pPr lvl="0"/>
            <a:r>
              <a:rPr lang="hr-HR" altLang="sr-Latn-RS" dirty="0"/>
              <a:t>učenje temeljeno na znanstveno dokazanoj metodi ponavljanja s pomakom</a:t>
            </a:r>
          </a:p>
          <a:p>
            <a:pPr marL="0" lvl="0" indent="0">
              <a:buNone/>
            </a:pPr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28A2B-F22E-D3F0-7D15-E8E57D188867}"/>
              </a:ext>
            </a:extLst>
          </p:cNvPr>
          <p:cNvSpPr txBox="1"/>
          <p:nvPr/>
        </p:nvSpPr>
        <p:spPr>
          <a:xfrm>
            <a:off x="63374" y="972000"/>
            <a:ext cx="17471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dirty="0"/>
              <a:t>      Opis:</a:t>
            </a:r>
          </a:p>
          <a:p>
            <a:endParaRPr lang="hr-HR" sz="2400" dirty="0"/>
          </a:p>
          <a:p>
            <a:endParaRPr lang="hr-HR" sz="2400" dirty="0"/>
          </a:p>
          <a:p>
            <a:endParaRPr lang="hr-HR" sz="2400" dirty="0"/>
          </a:p>
          <a:p>
            <a:endParaRPr lang="hr-HR" sz="2400" dirty="0"/>
          </a:p>
          <a:p>
            <a:r>
              <a:rPr lang="hr-HR" sz="2400" dirty="0"/>
              <a:t>        Cilj:</a:t>
            </a:r>
          </a:p>
          <a:p>
            <a:endParaRPr lang="hr-HR" sz="2400" dirty="0"/>
          </a:p>
          <a:p>
            <a:endParaRPr lang="hr-HR" sz="2400" dirty="0"/>
          </a:p>
          <a:p>
            <a:endParaRPr lang="hr-HR" sz="2400" dirty="0"/>
          </a:p>
          <a:p>
            <a:endParaRPr lang="hr-HR" sz="2400" dirty="0"/>
          </a:p>
          <a:p>
            <a:r>
              <a:rPr lang="hr-HR" sz="2400" dirty="0"/>
              <a:t>Rješenja: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40D65C-0546-8A9C-7D8E-B07D9D58CF8E}"/>
              </a:ext>
            </a:extLst>
          </p:cNvPr>
          <p:cNvSpPr txBox="1">
            <a:spLocks/>
          </p:cNvSpPr>
          <p:nvPr/>
        </p:nvSpPr>
        <p:spPr>
          <a:xfrm>
            <a:off x="1287731" y="2814294"/>
            <a:ext cx="7424268" cy="144988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olakšati</a:t>
            </a:r>
            <a:r>
              <a:rPr lang="en-GB" dirty="0"/>
              <a:t> </a:t>
            </a:r>
            <a:r>
              <a:rPr lang="en-GB" dirty="0" err="1"/>
              <a:t>dugoročno</a:t>
            </a:r>
            <a:r>
              <a:rPr lang="en-GB" dirty="0"/>
              <a:t> </a:t>
            </a:r>
            <a:r>
              <a:rPr lang="en-GB" dirty="0" err="1"/>
              <a:t>pamćenje</a:t>
            </a:r>
            <a:r>
              <a:rPr lang="en-GB" dirty="0"/>
              <a:t> </a:t>
            </a:r>
            <a:r>
              <a:rPr lang="en-GB" dirty="0" err="1"/>
              <a:t>vokabulara</a:t>
            </a:r>
            <a:endParaRPr lang="hr-HR" dirty="0"/>
          </a:p>
          <a:p>
            <a:r>
              <a:rPr lang="hr-HR" altLang="sr-Latn-RS" dirty="0"/>
              <a:t>kombiniranje administrativne kontrole, fleksibilnih modova učenja i praćenja napretka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053FDD-4C2A-9F19-B5C0-9648A3273960}"/>
              </a:ext>
            </a:extLst>
          </p:cNvPr>
          <p:cNvSpPr txBox="1">
            <a:spLocks/>
          </p:cNvSpPr>
          <p:nvPr/>
        </p:nvSpPr>
        <p:spPr>
          <a:xfrm>
            <a:off x="1287731" y="4644255"/>
            <a:ext cx="7424268" cy="144988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Anki</a:t>
            </a:r>
            <a:endParaRPr lang="hr-HR" dirty="0"/>
          </a:p>
          <a:p>
            <a:r>
              <a:rPr lang="en-GB" dirty="0" err="1"/>
              <a:t>Quizzlet</a:t>
            </a:r>
            <a:endParaRPr lang="hr-HR" dirty="0"/>
          </a:p>
          <a:p>
            <a:r>
              <a:rPr lang="en-GB" dirty="0" err="1"/>
              <a:t>Memrise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hr-H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5C67DD-B142-C7ED-6CA0-7F382D212D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085" y="4486248"/>
            <a:ext cx="2931184" cy="184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CDAE-B55C-AE9F-BFD3-F34290A4C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C1D7-B9C7-D52F-897D-9CF6CDBF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funkcionalni zahtjevi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08F46-0AFE-1410-A897-8E59702D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 err="1"/>
              <a:t>Sustav</a:t>
            </a:r>
            <a:r>
              <a:rPr lang="en-GB" sz="2000" dirty="0"/>
              <a:t> </a:t>
            </a:r>
            <a:r>
              <a:rPr lang="en-GB" sz="2000" dirty="0" err="1"/>
              <a:t>omogućuje</a:t>
            </a:r>
            <a:r>
              <a:rPr lang="en-GB" sz="2000" dirty="0"/>
              <a:t> </a:t>
            </a:r>
            <a:r>
              <a:rPr lang="en-GB" sz="2000" dirty="0" err="1"/>
              <a:t>korisniku</a:t>
            </a:r>
            <a:r>
              <a:rPr lang="en-GB" sz="2000" dirty="0"/>
              <a:t> da se </a:t>
            </a:r>
            <a:r>
              <a:rPr lang="en-GB" sz="2000" dirty="0" err="1"/>
              <a:t>registrira</a:t>
            </a:r>
            <a:r>
              <a:rPr lang="en-GB" sz="2000" dirty="0"/>
              <a:t> </a:t>
            </a:r>
            <a:r>
              <a:rPr lang="en-GB" sz="2000" dirty="0" err="1"/>
              <a:t>adresom</a:t>
            </a:r>
            <a:r>
              <a:rPr lang="en-GB" sz="2000" dirty="0"/>
              <a:t> </a:t>
            </a:r>
            <a:r>
              <a:rPr lang="en-GB" sz="2000" dirty="0" err="1"/>
              <a:t>korisničke</a:t>
            </a:r>
            <a:r>
              <a:rPr lang="en-GB" sz="2000" dirty="0"/>
              <a:t> </a:t>
            </a:r>
            <a:r>
              <a:rPr lang="en-GB" sz="2000" dirty="0" err="1"/>
              <a:t>pošt</a:t>
            </a:r>
            <a:r>
              <a:rPr lang="hr-HR" sz="2000" dirty="0"/>
              <a:t>e</a:t>
            </a:r>
          </a:p>
          <a:p>
            <a:r>
              <a:rPr lang="en-GB" sz="2000" dirty="0" err="1"/>
              <a:t>Sustav</a:t>
            </a:r>
            <a:r>
              <a:rPr lang="en-GB" sz="2000" dirty="0"/>
              <a:t> </a:t>
            </a:r>
            <a:r>
              <a:rPr lang="en-GB" sz="2000" dirty="0" err="1"/>
              <a:t>omogućuje</a:t>
            </a:r>
            <a:r>
              <a:rPr lang="en-GB" sz="2000" dirty="0"/>
              <a:t> </a:t>
            </a:r>
            <a:r>
              <a:rPr lang="en-GB" sz="2000" dirty="0" err="1"/>
              <a:t>korisniku</a:t>
            </a:r>
            <a:r>
              <a:rPr lang="en-GB" sz="2000" dirty="0"/>
              <a:t> </a:t>
            </a:r>
            <a:r>
              <a:rPr lang="en-GB" sz="2000" dirty="0" err="1"/>
              <a:t>pokretanje</a:t>
            </a:r>
            <a:r>
              <a:rPr lang="en-GB" sz="2000" dirty="0"/>
              <a:t> </a:t>
            </a:r>
            <a:r>
              <a:rPr lang="en-GB" sz="2000" dirty="0" err="1"/>
              <a:t>odabranog</a:t>
            </a:r>
            <a:r>
              <a:rPr lang="en-GB" sz="2000" dirty="0"/>
              <a:t> </a:t>
            </a:r>
            <a:r>
              <a:rPr lang="en-GB" sz="2000" dirty="0" err="1"/>
              <a:t>riječnika</a:t>
            </a:r>
            <a:r>
              <a:rPr lang="en-GB" sz="2000" dirty="0"/>
              <a:t> u </a:t>
            </a:r>
            <a:r>
              <a:rPr lang="en-GB" sz="2000" dirty="0" err="1"/>
              <a:t>odabranom</a:t>
            </a:r>
            <a:r>
              <a:rPr lang="en-GB" sz="2000" dirty="0"/>
              <a:t> </a:t>
            </a:r>
            <a:r>
              <a:rPr lang="en-GB" sz="2000" dirty="0" err="1"/>
              <a:t>specifičnom</a:t>
            </a:r>
            <a:r>
              <a:rPr lang="en-GB" sz="2000" dirty="0"/>
              <a:t> </a:t>
            </a:r>
            <a:r>
              <a:rPr lang="en-GB" sz="2000" dirty="0" err="1"/>
              <a:t>modu</a:t>
            </a:r>
            <a:endParaRPr lang="hr-HR" sz="2000" dirty="0"/>
          </a:p>
          <a:p>
            <a:r>
              <a:rPr lang="en-GB" sz="2000" dirty="0" err="1"/>
              <a:t>Sustav</a:t>
            </a:r>
            <a:r>
              <a:rPr lang="en-GB" sz="2000" dirty="0"/>
              <a:t> </a:t>
            </a:r>
            <a:r>
              <a:rPr lang="en-GB" sz="2000" dirty="0" err="1"/>
              <a:t>omogućuje</a:t>
            </a:r>
            <a:r>
              <a:rPr lang="en-GB" sz="2000" dirty="0"/>
              <a:t> mod za </a:t>
            </a:r>
            <a:r>
              <a:rPr lang="en-GB" sz="2000" dirty="0" err="1"/>
              <a:t>učenje</a:t>
            </a:r>
            <a:r>
              <a:rPr lang="en-GB" sz="2000" dirty="0"/>
              <a:t> </a:t>
            </a:r>
            <a:r>
              <a:rPr lang="en-GB" sz="2000" dirty="0" err="1"/>
              <a:t>prijevođenja</a:t>
            </a:r>
            <a:r>
              <a:rPr lang="en-GB" sz="2000" dirty="0"/>
              <a:t> </a:t>
            </a:r>
            <a:r>
              <a:rPr lang="en-GB" sz="2000" dirty="0" err="1"/>
              <a:t>riječi</a:t>
            </a:r>
            <a:r>
              <a:rPr lang="en-GB" sz="2000" dirty="0"/>
              <a:t> </a:t>
            </a:r>
            <a:r>
              <a:rPr lang="en-GB" sz="2000" dirty="0" err="1"/>
              <a:t>sa</a:t>
            </a:r>
            <a:r>
              <a:rPr lang="en-GB" sz="2000" dirty="0"/>
              <a:t> </a:t>
            </a:r>
            <a:r>
              <a:rPr lang="en-GB" sz="2000" dirty="0" err="1"/>
              <a:t>materinjeg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strani</a:t>
            </a:r>
            <a:r>
              <a:rPr lang="en-GB" sz="2000" dirty="0"/>
              <a:t> </a:t>
            </a:r>
            <a:r>
              <a:rPr lang="en-GB" sz="2000" dirty="0" err="1"/>
              <a:t>jezik</a:t>
            </a:r>
            <a:r>
              <a:rPr lang="hr-HR" sz="2000" dirty="0"/>
              <a:t> / stranog na materinji jezik</a:t>
            </a:r>
          </a:p>
          <a:p>
            <a:r>
              <a:rPr lang="en-GB" sz="2000" dirty="0" err="1"/>
              <a:t>Sustav</a:t>
            </a:r>
            <a:r>
              <a:rPr lang="en-GB" sz="2000" dirty="0"/>
              <a:t> </a:t>
            </a:r>
            <a:r>
              <a:rPr lang="en-GB" sz="2000" dirty="0" err="1"/>
              <a:t>omogućuje</a:t>
            </a:r>
            <a:r>
              <a:rPr lang="en-GB" sz="2000" dirty="0"/>
              <a:t> mod za </a:t>
            </a:r>
            <a:r>
              <a:rPr lang="en-GB" sz="2000" dirty="0" err="1"/>
              <a:t>provjeru</a:t>
            </a:r>
            <a:r>
              <a:rPr lang="en-GB" sz="2000" dirty="0"/>
              <a:t> </a:t>
            </a:r>
            <a:r>
              <a:rPr lang="en-GB" sz="2000" dirty="0" err="1"/>
              <a:t>točnosti</a:t>
            </a:r>
            <a:r>
              <a:rPr lang="en-GB" sz="2000" dirty="0"/>
              <a:t> </a:t>
            </a:r>
            <a:r>
              <a:rPr lang="en-GB" sz="2000" dirty="0" err="1"/>
              <a:t>pisanja</a:t>
            </a:r>
            <a:r>
              <a:rPr lang="hr-HR" sz="2000" dirty="0"/>
              <a:t> / izgovora</a:t>
            </a:r>
            <a:r>
              <a:rPr lang="en-GB" sz="2000" dirty="0"/>
              <a:t> </a:t>
            </a:r>
            <a:r>
              <a:rPr lang="en-GB" sz="2000" dirty="0" err="1"/>
              <a:t>riječi</a:t>
            </a:r>
            <a:endParaRPr lang="hr-HR" sz="2000" dirty="0"/>
          </a:p>
          <a:p>
            <a:r>
              <a:rPr lang="hr-HR" sz="2000" dirty="0"/>
              <a:t>Sustav omogućava korisniku da odabere točan odgovor prijevoda</a:t>
            </a:r>
          </a:p>
          <a:p>
            <a:r>
              <a:rPr lang="hr-HR" sz="2000" dirty="0"/>
              <a:t>Sustav nasumično bira netočne odgovore iz istog riječnika</a:t>
            </a:r>
          </a:p>
          <a:p>
            <a:r>
              <a:rPr lang="en-GB" sz="2000" dirty="0" err="1"/>
              <a:t>Sustav</a:t>
            </a:r>
            <a:r>
              <a:rPr lang="en-GB" sz="2000" dirty="0"/>
              <a:t> </a:t>
            </a:r>
            <a:r>
              <a:rPr lang="en-GB" sz="2000" dirty="0" err="1"/>
              <a:t>omogućuje</a:t>
            </a:r>
            <a:r>
              <a:rPr lang="en-GB" sz="2000" dirty="0"/>
              <a:t> </a:t>
            </a:r>
            <a:r>
              <a:rPr lang="en-GB" sz="2000" dirty="0" err="1"/>
              <a:t>premještanje</a:t>
            </a:r>
            <a:r>
              <a:rPr lang="en-GB" sz="2000" dirty="0"/>
              <a:t> </a:t>
            </a:r>
            <a:r>
              <a:rPr lang="en-GB" sz="2000" dirty="0" err="1"/>
              <a:t>riječi</a:t>
            </a:r>
            <a:r>
              <a:rPr lang="en-GB" sz="2000" dirty="0"/>
              <a:t> u </a:t>
            </a:r>
            <a:r>
              <a:rPr lang="en-GB" sz="2000" dirty="0" err="1"/>
              <a:t>sljedeću</a:t>
            </a:r>
            <a:r>
              <a:rPr lang="en-GB" sz="2000" dirty="0"/>
              <a:t> </a:t>
            </a:r>
            <a:r>
              <a:rPr lang="en-GB" sz="2000" dirty="0" err="1"/>
              <a:t>posudu</a:t>
            </a:r>
            <a:r>
              <a:rPr lang="en-GB" sz="2000" dirty="0"/>
              <a:t> </a:t>
            </a:r>
            <a:r>
              <a:rPr lang="en-GB" sz="2000" dirty="0" err="1"/>
              <a:t>pri</a:t>
            </a:r>
            <a:r>
              <a:rPr lang="en-GB" sz="2000" dirty="0"/>
              <a:t> </a:t>
            </a:r>
            <a:r>
              <a:rPr lang="en-GB" sz="2000" dirty="0" err="1"/>
              <a:t>točnom</a:t>
            </a:r>
            <a:r>
              <a:rPr lang="en-GB" sz="2000" dirty="0"/>
              <a:t> </a:t>
            </a:r>
            <a:r>
              <a:rPr lang="en-GB" sz="2000" dirty="0" err="1"/>
              <a:t>odgovoru</a:t>
            </a:r>
            <a:endParaRPr lang="hr-HR" sz="2000" dirty="0"/>
          </a:p>
          <a:p>
            <a:r>
              <a:rPr lang="en-GB" sz="2000" dirty="0" err="1"/>
              <a:t>Sustav</a:t>
            </a:r>
            <a:r>
              <a:rPr lang="en-GB" sz="2000" dirty="0"/>
              <a:t> </a:t>
            </a:r>
            <a:r>
              <a:rPr lang="en-GB" sz="2000" dirty="0" err="1"/>
              <a:t>omogućuje</a:t>
            </a:r>
            <a:r>
              <a:rPr lang="en-GB" sz="2000" dirty="0"/>
              <a:t> </a:t>
            </a:r>
            <a:r>
              <a:rPr lang="en-GB" sz="2000" dirty="0" err="1"/>
              <a:t>premještanje</a:t>
            </a:r>
            <a:r>
              <a:rPr lang="en-GB" sz="2000" dirty="0"/>
              <a:t> </a:t>
            </a:r>
            <a:r>
              <a:rPr lang="en-GB" sz="2000" dirty="0" err="1"/>
              <a:t>riječi</a:t>
            </a:r>
            <a:r>
              <a:rPr lang="en-GB" sz="2000" dirty="0"/>
              <a:t> u </a:t>
            </a:r>
            <a:r>
              <a:rPr lang="en-GB" sz="2000" dirty="0" err="1"/>
              <a:t>prvu</a:t>
            </a:r>
            <a:r>
              <a:rPr lang="en-GB" sz="2000" dirty="0"/>
              <a:t> </a:t>
            </a:r>
            <a:r>
              <a:rPr lang="en-GB" sz="2000" dirty="0" err="1"/>
              <a:t>posudu</a:t>
            </a:r>
            <a:r>
              <a:rPr lang="en-GB" sz="2000" dirty="0"/>
              <a:t> </a:t>
            </a:r>
            <a:r>
              <a:rPr lang="en-GB" sz="2000" dirty="0" err="1"/>
              <a:t>pri</a:t>
            </a:r>
            <a:r>
              <a:rPr lang="en-GB" sz="2000" dirty="0"/>
              <a:t> </a:t>
            </a:r>
            <a:r>
              <a:rPr lang="en-GB" sz="2000" dirty="0" err="1"/>
              <a:t>netočnom</a:t>
            </a:r>
            <a:r>
              <a:rPr lang="en-GB" sz="2000" dirty="0"/>
              <a:t> </a:t>
            </a:r>
            <a:r>
              <a:rPr lang="en-GB" sz="2000" dirty="0" err="1"/>
              <a:t>odgovoru</a:t>
            </a:r>
            <a:endParaRPr lang="hr-HR" sz="2000" dirty="0"/>
          </a:p>
          <a:p>
            <a:endParaRPr lang="hr-HR" sz="2000" dirty="0"/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1E2EC-F1B7-A220-29A7-ED2C2D4B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4946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nefunkcionalni zahtjevi</a:t>
            </a:r>
            <a:endParaRPr lang="hr-HR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B2AB4F-4C12-E5FD-BC63-37F8786CE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337" y="1409384"/>
            <a:ext cx="7535327" cy="45250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Visokorazinski</a:t>
            </a:r>
            <a:r>
              <a:rPr lang="en-GB" b="1" dirty="0"/>
              <a:t> </a:t>
            </a:r>
            <a:r>
              <a:rPr lang="en-GB" b="1" dirty="0" err="1"/>
              <a:t>dijagram</a:t>
            </a:r>
            <a:r>
              <a:rPr lang="en-GB" b="1" dirty="0"/>
              <a:t> </a:t>
            </a:r>
            <a:r>
              <a:rPr lang="en-GB" b="1" dirty="0" err="1"/>
              <a:t>obrazaca</a:t>
            </a:r>
            <a:r>
              <a:rPr lang="en-GB" b="1" dirty="0"/>
              <a:t> </a:t>
            </a:r>
            <a:r>
              <a:rPr lang="en-GB" b="1" dirty="0" err="1"/>
              <a:t>uporabe</a:t>
            </a:r>
            <a:r>
              <a:rPr lang="en-GB" b="1" dirty="0"/>
              <a:t> </a:t>
            </a:r>
            <a:r>
              <a:rPr lang="en-GB" b="1" dirty="0" err="1"/>
              <a:t>cijelog</a:t>
            </a:r>
            <a:r>
              <a:rPr lang="en-GB" b="1" dirty="0"/>
              <a:t> </a:t>
            </a:r>
            <a:r>
              <a:rPr lang="en-GB" b="1" dirty="0" err="1"/>
              <a:t>sustava</a:t>
            </a:r>
            <a:endParaRPr lang="en-GB" b="1" dirty="0"/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1026" name="Picture 2" descr="UseCase">
            <a:extLst>
              <a:ext uri="{FF2B5EF4-FFF2-40B4-BE49-F238E27FC236}">
                <a16:creationId xmlns:a16="http://schemas.microsoft.com/office/drawing/2014/main" id="{118F9E63-83C3-6B86-E6D0-8051E9028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96" y="1412671"/>
            <a:ext cx="7709205" cy="537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000" noProof="0" dirty="0"/>
              <a:t>sustav  je izgrađen prema klijent-poslužiteljskom modelu</a:t>
            </a:r>
          </a:p>
          <a:p>
            <a:r>
              <a:rPr lang="hr-HR" sz="2000" dirty="0"/>
              <a:t>primijenjena je višeslojna arhitektura radi jasnog razdvajanja odgovornosti</a:t>
            </a:r>
          </a:p>
          <a:p>
            <a:r>
              <a:rPr lang="hr-HR" sz="2000" noProof="0" dirty="0"/>
              <a:t>komunikacija </a:t>
            </a:r>
            <a:r>
              <a:rPr lang="hr-HR" sz="2000" dirty="0"/>
              <a:t>između slojeva odvija se isključivo preko jasno definiranih sučelja </a:t>
            </a:r>
          </a:p>
          <a:p>
            <a:r>
              <a:rPr lang="hr-HR" sz="2000" noProof="0" dirty="0"/>
              <a:t>sva poslovna i sigurnosna logika centralizirana je na poslužitelju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C9ED041-74EF-53E2-5878-7A1D8B692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Sustav je izgrađen prema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klijent–poslužiteljskom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A33F-446E-7B9C-9E81-7982CCB1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65AA-79C3-467E-262D-41FA7326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dijagram arhitekture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A490-0B75-9B08-AE52-910D02F4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1418115"/>
          </a:xfrm>
        </p:spPr>
        <p:txBody>
          <a:bodyPr>
            <a:normAutofit/>
          </a:bodyPr>
          <a:lstStyle/>
          <a:p>
            <a:r>
              <a:rPr lang="hr-HR" sz="2000" noProof="0" dirty="0"/>
              <a:t>Prezentacijski sloj:</a:t>
            </a:r>
          </a:p>
          <a:p>
            <a:pPr lvl="2"/>
            <a:r>
              <a:rPr lang="hr-HR" noProof="0" dirty="0"/>
              <a:t>korisničko sučelje za učenike i administratore </a:t>
            </a:r>
          </a:p>
          <a:p>
            <a:pPr lvl="2"/>
            <a:r>
              <a:rPr lang="hr-HR" dirty="0"/>
              <a:t>slanje HTTPS zahtjeva prema backendu</a:t>
            </a:r>
          </a:p>
          <a:p>
            <a:pPr lvl="2"/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3C12C-B2F5-936F-0BC7-7997FC9D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490CDE2-9956-EE4F-9D0D-792FEE5DC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Sustav je izgrađen prema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klijent–poslužiteljskom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EB9C71-4D56-6AE0-6130-601E63A91578}"/>
              </a:ext>
            </a:extLst>
          </p:cNvPr>
          <p:cNvSpPr txBox="1">
            <a:spLocks/>
          </p:cNvSpPr>
          <p:nvPr/>
        </p:nvSpPr>
        <p:spPr>
          <a:xfrm>
            <a:off x="71999" y="2245259"/>
            <a:ext cx="9000000" cy="14181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dirty="0"/>
              <a:t>Poslovni sloj:</a:t>
            </a:r>
          </a:p>
          <a:p>
            <a:pPr lvl="2"/>
            <a:r>
              <a:rPr lang="hr-HR" dirty="0"/>
              <a:t>obrada poslovne logike aplikacije </a:t>
            </a:r>
          </a:p>
          <a:p>
            <a:pPr lvl="2"/>
            <a:r>
              <a:rPr lang="hr-HR" dirty="0"/>
              <a:t>autentifikacija i autorizacija korisnika (JWT, Oauth 2.0)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A90FAB-1F94-E0C8-B9E8-448CD8ABC8C4}"/>
              </a:ext>
            </a:extLst>
          </p:cNvPr>
          <p:cNvSpPr txBox="1">
            <a:spLocks/>
          </p:cNvSpPr>
          <p:nvPr/>
        </p:nvSpPr>
        <p:spPr>
          <a:xfrm>
            <a:off x="71999" y="3591662"/>
            <a:ext cx="9000000" cy="12609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dirty="0"/>
              <a:t>Podatkovni sloj:</a:t>
            </a:r>
          </a:p>
          <a:p>
            <a:pPr lvl="2"/>
            <a:r>
              <a:rPr lang="hr-HR" dirty="0"/>
              <a:t>pohrana korisnika, riječi, rječnika i napretka učenja</a:t>
            </a:r>
          </a:p>
          <a:p>
            <a:pPr lvl="2"/>
            <a:r>
              <a:rPr lang="hr-HR" dirty="0"/>
              <a:t>osigurava integritet i konzistetnost podataka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1ADEDC2-335C-3CD3-8C8E-C23BAC7C18B3}"/>
              </a:ext>
            </a:extLst>
          </p:cNvPr>
          <p:cNvSpPr txBox="1">
            <a:spLocks/>
          </p:cNvSpPr>
          <p:nvPr/>
        </p:nvSpPr>
        <p:spPr>
          <a:xfrm>
            <a:off x="71999" y="4936633"/>
            <a:ext cx="9000000" cy="12609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dirty="0"/>
              <a:t>Poveyivanje slojeva:</a:t>
            </a:r>
          </a:p>
          <a:p>
            <a:pPr lvl="2"/>
            <a:r>
              <a:rPr lang="hr-HR" dirty="0"/>
              <a:t>Frontend </a:t>
            </a:r>
            <a:r>
              <a:rPr lang="en-GB" dirty="0"/>
              <a:t>↔ </a:t>
            </a:r>
            <a:r>
              <a:rPr lang="hr-HR" dirty="0"/>
              <a:t> Backend: REST API (HTTPS)</a:t>
            </a:r>
          </a:p>
          <a:p>
            <a:pPr lvl="2"/>
            <a:r>
              <a:rPr lang="hr-HR" dirty="0"/>
              <a:t>Backend </a:t>
            </a:r>
            <a:r>
              <a:rPr lang="en-GB" dirty="0"/>
              <a:t>↔ </a:t>
            </a:r>
            <a:r>
              <a:rPr lang="hr-HR" dirty="0"/>
              <a:t>Baza: SQL preko TCP/IP</a:t>
            </a:r>
          </a:p>
        </p:txBody>
      </p:sp>
    </p:spTree>
    <p:extLst>
      <p:ext uri="{BB962C8B-B14F-4D97-AF65-F5344CB8AC3E}">
        <p14:creationId xmlns:p14="http://schemas.microsoft.com/office/powerpoint/2010/main" val="83042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83" y="972000"/>
            <a:ext cx="8952315" cy="5529038"/>
          </a:xfrm>
        </p:spPr>
        <p:txBody>
          <a:bodyPr/>
          <a:lstStyle/>
          <a:p>
            <a:r>
              <a:rPr lang="hr-HR" noProof="0" dirty="0"/>
              <a:t>Organizacija ispitivanja</a:t>
            </a:r>
          </a:p>
          <a:p>
            <a:r>
              <a:rPr lang="hr-HR" noProof="0" dirty="0"/>
              <a:t>Fokus ispitivanja. Potpunost ispitivanja</a:t>
            </a:r>
            <a:endParaRPr lang="en-US" noProof="0" dirty="0"/>
          </a:p>
          <a:p>
            <a:pPr lvl="1"/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ispitivanja</a:t>
            </a:r>
            <a:r>
              <a:rPr lang="en-US" dirty="0"/>
              <a:t> je </a:t>
            </a:r>
            <a:r>
              <a:rPr lang="en-US" dirty="0" err="1"/>
              <a:t>obuhvaćao</a:t>
            </a:r>
            <a:r>
              <a:rPr lang="en-US" dirty="0"/>
              <a:t> </a:t>
            </a:r>
            <a:r>
              <a:rPr lang="en-US" dirty="0" err="1"/>
              <a:t>namjerno</a:t>
            </a:r>
            <a:r>
              <a:rPr lang="en-US" dirty="0"/>
              <a:t> </a:t>
            </a:r>
            <a:r>
              <a:rPr lang="en-US" dirty="0" err="1"/>
              <a:t>izazivanje</a:t>
            </a:r>
            <a:r>
              <a:rPr lang="en-US" dirty="0"/>
              <a:t> </a:t>
            </a:r>
            <a:r>
              <a:rPr lang="en-US" dirty="0" err="1"/>
              <a:t>pogreške</a:t>
            </a:r>
            <a:r>
              <a:rPr lang="en-US" dirty="0"/>
              <a:t>, </a:t>
            </a:r>
            <a:r>
              <a:rPr lang="en-US" dirty="0" err="1"/>
              <a:t>slanje</a:t>
            </a:r>
            <a:r>
              <a:rPr lang="en-US" dirty="0"/>
              <a:t> </a:t>
            </a:r>
            <a:r>
              <a:rPr lang="en-US" dirty="0" err="1"/>
              <a:t>rubnih</a:t>
            </a:r>
            <a:r>
              <a:rPr lang="en-US" dirty="0"/>
              <a:t> </a:t>
            </a:r>
            <a:r>
              <a:rPr lang="en-US" dirty="0" err="1"/>
              <a:t>uvjeta</a:t>
            </a:r>
            <a:r>
              <a:rPr lang="en-US" dirty="0"/>
              <a:t>, </a:t>
            </a:r>
            <a:r>
              <a:rPr lang="en-US" dirty="0" err="1"/>
              <a:t>pokušajem</a:t>
            </a:r>
            <a:r>
              <a:rPr lang="en-US" dirty="0"/>
              <a:t> </a:t>
            </a:r>
            <a:r>
              <a:rPr lang="en-US" dirty="0" err="1"/>
              <a:t>uporabe</a:t>
            </a:r>
            <a:r>
              <a:rPr lang="en-US" dirty="0"/>
              <a:t> </a:t>
            </a:r>
            <a:r>
              <a:rPr lang="en-US" dirty="0" err="1"/>
              <a:t>nepostojeće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I </a:t>
            </a:r>
            <a:r>
              <a:rPr lang="en-US" dirty="0" err="1"/>
              <a:t>ispravno</a:t>
            </a:r>
            <a:r>
              <a:rPr lang="en-US" dirty="0"/>
              <a:t> </a:t>
            </a:r>
            <a:r>
              <a:rPr lang="en-US" dirty="0" err="1"/>
              <a:t>korištenje</a:t>
            </a:r>
            <a:endParaRPr lang="en-US" dirty="0"/>
          </a:p>
          <a:p>
            <a:pPr lvl="1"/>
            <a:r>
              <a:rPr lang="en-US" noProof="0" dirty="0"/>
              <a:t>Neki od </a:t>
            </a:r>
            <a:r>
              <a:rPr lang="en-US" noProof="0" dirty="0" err="1"/>
              <a:t>načina</a:t>
            </a:r>
            <a:r>
              <a:rPr lang="en-US" noProof="0" dirty="0"/>
              <a:t> </a:t>
            </a:r>
            <a:r>
              <a:rPr lang="en-US" noProof="0" dirty="0" err="1"/>
              <a:t>izazivanja</a:t>
            </a:r>
            <a:r>
              <a:rPr lang="en-US" noProof="0" dirty="0"/>
              <a:t> </a:t>
            </a:r>
            <a:r>
              <a:rPr lang="en-US" noProof="0" dirty="0" err="1"/>
              <a:t>pogreške</a:t>
            </a:r>
            <a:r>
              <a:rPr lang="en-US" dirty="0"/>
              <a:t>:</a:t>
            </a:r>
          </a:p>
          <a:p>
            <a:pPr lvl="3"/>
            <a:r>
              <a:rPr lang="en-US" dirty="0" err="1"/>
              <a:t>Dodavanje</a:t>
            </a:r>
            <a:r>
              <a:rPr lang="en-US" dirty="0"/>
              <a:t> </a:t>
            </a:r>
            <a:r>
              <a:rPr lang="en-US" dirty="0" err="1"/>
              <a:t>riječi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je </a:t>
            </a:r>
            <a:r>
              <a:rPr lang="en-US" dirty="0" err="1"/>
              <a:t>već</a:t>
            </a:r>
            <a:r>
              <a:rPr lang="en-US" dirty="0"/>
              <a:t> u </a:t>
            </a:r>
            <a:r>
              <a:rPr lang="en-US" dirty="0" err="1"/>
              <a:t>riječniku</a:t>
            </a:r>
            <a:endParaRPr lang="en-US" dirty="0"/>
          </a:p>
          <a:p>
            <a:pPr lvl="3"/>
            <a:r>
              <a:rPr lang="en-US" noProof="0" dirty="0"/>
              <a:t>Prijavljivanje </a:t>
            </a:r>
            <a:r>
              <a:rPr lang="en-US" noProof="0" dirty="0" err="1"/>
              <a:t>starom</a:t>
            </a:r>
            <a:r>
              <a:rPr lang="en-US" noProof="0" dirty="0"/>
              <a:t> </a:t>
            </a:r>
            <a:r>
              <a:rPr lang="en-US" noProof="0" dirty="0" err="1"/>
              <a:t>lozinkom</a:t>
            </a:r>
            <a:r>
              <a:rPr lang="en-US" noProof="0" dirty="0"/>
              <a:t> </a:t>
            </a:r>
            <a:r>
              <a:rPr lang="en-US" noProof="0" dirty="0" err="1"/>
              <a:t>ako</a:t>
            </a:r>
            <a:r>
              <a:rPr lang="en-US" noProof="0" dirty="0"/>
              <a:t> je </a:t>
            </a:r>
            <a:r>
              <a:rPr lang="en-US" noProof="0" dirty="0" err="1"/>
              <a:t>ona</a:t>
            </a:r>
            <a:r>
              <a:rPr lang="en-US" noProof="0" dirty="0"/>
              <a:t> </a:t>
            </a:r>
            <a:r>
              <a:rPr lang="en-US" noProof="0" dirty="0" err="1"/>
              <a:t>promijenjena</a:t>
            </a:r>
            <a:endParaRPr lang="en-US" noProof="0" dirty="0"/>
          </a:p>
          <a:p>
            <a:pPr lvl="3"/>
            <a:r>
              <a:rPr lang="en-US" dirty="0"/>
              <a:t>Prijavljivanje u </a:t>
            </a: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je </a:t>
            </a:r>
            <a:r>
              <a:rPr lang="en-US" dirty="0" err="1"/>
              <a:t>račun</a:t>
            </a:r>
            <a:r>
              <a:rPr lang="en-US" dirty="0"/>
              <a:t> </a:t>
            </a:r>
            <a:r>
              <a:rPr lang="en-US" dirty="0" err="1"/>
              <a:t>obrisan</a:t>
            </a:r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567000" lvl="3" indent="0">
              <a:buNone/>
            </a:pPr>
            <a:endParaRPr lang="en-US" dirty="0"/>
          </a:p>
          <a:p>
            <a:pPr lvl="3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66296890-7EE5-DA02-4459-50C94863E411}"/>
              </a:ext>
            </a:extLst>
          </p:cNvPr>
          <p:cNvSpPr txBox="1"/>
          <p:nvPr/>
        </p:nvSpPr>
        <p:spPr>
          <a:xfrm>
            <a:off x="252919" y="4303455"/>
            <a:ext cx="80350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Neki od </a:t>
            </a:r>
            <a:r>
              <a:rPr lang="en-US" dirty="0" err="1"/>
              <a:t>rubnih</a:t>
            </a:r>
            <a:r>
              <a:rPr lang="en-US" dirty="0"/>
              <a:t> </a:t>
            </a:r>
            <a:r>
              <a:rPr lang="en-US" dirty="0" err="1"/>
              <a:t>slučajeva</a:t>
            </a:r>
            <a:r>
              <a:rPr lang="en-US" dirty="0"/>
              <a:t> 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/>
              <a:t>Upisivanje riječi sa razmakom na početku u modu pisanja</a:t>
            </a:r>
            <a:endParaRPr lang="en-US" sz="1400" dirty="0"/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de-DE" sz="1400" dirty="0" err="1"/>
              <a:t>Brisanje</a:t>
            </a:r>
            <a:r>
              <a:rPr lang="de-DE" sz="1400" dirty="0"/>
              <a:t> </a:t>
            </a:r>
            <a:r>
              <a:rPr lang="de-DE" sz="1400" dirty="0" err="1"/>
              <a:t>zadnje</a:t>
            </a:r>
            <a:r>
              <a:rPr lang="de-DE" sz="1400" dirty="0"/>
              <a:t> </a:t>
            </a:r>
            <a:r>
              <a:rPr lang="de-DE" sz="1400" dirty="0" err="1"/>
              <a:t>preostale</a:t>
            </a:r>
            <a:r>
              <a:rPr lang="de-DE" sz="1400" dirty="0"/>
              <a:t> </a:t>
            </a:r>
            <a:r>
              <a:rPr lang="de-DE" sz="1400" dirty="0" err="1"/>
              <a:t>riječi</a:t>
            </a:r>
            <a:r>
              <a:rPr lang="de-DE" sz="1400" dirty="0"/>
              <a:t> </a:t>
            </a:r>
            <a:r>
              <a:rPr lang="de-DE" sz="1400" dirty="0" err="1"/>
              <a:t>iz</a:t>
            </a:r>
            <a:r>
              <a:rPr lang="de-DE" sz="1400" dirty="0"/>
              <a:t> </a:t>
            </a:r>
            <a:r>
              <a:rPr lang="de-DE" sz="1400" dirty="0" err="1"/>
              <a:t>rječnika</a:t>
            </a:r>
            <a:endParaRPr lang="en-US" sz="14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150" dirty="0"/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82305DF9-9ABE-AD0F-0A82-5ADE0ECC9876}"/>
              </a:ext>
            </a:extLst>
          </p:cNvPr>
          <p:cNvSpPr txBox="1"/>
          <p:nvPr/>
        </p:nvSpPr>
        <p:spPr>
          <a:xfrm>
            <a:off x="359923" y="5282119"/>
            <a:ext cx="781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Nepostojeća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de-DE" dirty="0" err="1"/>
              <a:t>Običan</a:t>
            </a:r>
            <a:r>
              <a:rPr lang="de-DE" dirty="0"/>
              <a:t> </a:t>
            </a:r>
            <a:r>
              <a:rPr lang="de-DE" dirty="0" err="1"/>
              <a:t>korisnik</a:t>
            </a:r>
            <a:r>
              <a:rPr lang="de-DE" dirty="0"/>
              <a:t> </a:t>
            </a:r>
            <a:r>
              <a:rPr lang="de-DE" dirty="0" err="1"/>
              <a:t>pokušava</a:t>
            </a:r>
            <a:r>
              <a:rPr lang="de-DE" dirty="0"/>
              <a:t> </a:t>
            </a:r>
            <a:r>
              <a:rPr lang="de-DE" dirty="0" err="1"/>
              <a:t>dodati</a:t>
            </a:r>
            <a:r>
              <a:rPr lang="de-DE" dirty="0"/>
              <a:t> </a:t>
            </a:r>
            <a:r>
              <a:rPr lang="de-DE" dirty="0" err="1"/>
              <a:t>novu</a:t>
            </a:r>
            <a:r>
              <a:rPr lang="de-DE" dirty="0"/>
              <a:t> </a:t>
            </a:r>
            <a:r>
              <a:rPr lang="de-DE" dirty="0" err="1"/>
              <a:t>riječ</a:t>
            </a:r>
            <a:r>
              <a:rPr lang="de-DE" dirty="0"/>
              <a:t> u </a:t>
            </a:r>
            <a:r>
              <a:rPr lang="de-DE" dirty="0" err="1"/>
              <a:t>rječnik</a:t>
            </a:r>
            <a:endParaRPr lang="de-DE" dirty="0"/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1365505"/>
          </a:xfrm>
        </p:spPr>
        <p:txBody>
          <a:bodyPr>
            <a:normAutofit lnSpcReduction="10000"/>
          </a:bodyPr>
          <a:lstStyle/>
          <a:p>
            <a:r>
              <a:rPr lang="hr-HR" sz="2000" noProof="0" dirty="0"/>
              <a:t>Programski jezici:</a:t>
            </a:r>
            <a:endParaRPr lang="hr-HR" sz="1200" dirty="0"/>
          </a:p>
          <a:p>
            <a:pPr lvl="1"/>
            <a:r>
              <a:rPr lang="hr-HR" sz="1600" noProof="0" dirty="0"/>
              <a:t>JavaScript (frontend – React.js i backend – Node.js)</a:t>
            </a:r>
          </a:p>
          <a:p>
            <a:pPr lvl="1"/>
            <a:r>
              <a:rPr lang="hr-HR" sz="1600" dirty="0"/>
              <a:t>HTML, CSS (struktura i izgled sučelja)</a:t>
            </a:r>
          </a:p>
          <a:p>
            <a:pPr lvl="1"/>
            <a:r>
              <a:rPr lang="hr-HR" sz="1600" noProof="0" dirty="0"/>
              <a:t>SQL (baza podataka - PostgreSQL)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F7A659-5C39-E074-D948-8A511AF7A8A4}"/>
              </a:ext>
            </a:extLst>
          </p:cNvPr>
          <p:cNvSpPr txBox="1">
            <a:spLocks/>
          </p:cNvSpPr>
          <p:nvPr/>
        </p:nvSpPr>
        <p:spPr>
          <a:xfrm>
            <a:off x="71999" y="2337505"/>
            <a:ext cx="9000000" cy="136550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dirty="0"/>
              <a:t>Razvoj, ispitivanje i dokumentacija:</a:t>
            </a:r>
            <a:endParaRPr lang="hr-HR" sz="800" dirty="0"/>
          </a:p>
          <a:p>
            <a:pPr lvl="1"/>
            <a:r>
              <a:rPr lang="hr-HR" sz="1600" dirty="0"/>
              <a:t>GitHub – verzioniranje i suradnja </a:t>
            </a:r>
          </a:p>
          <a:p>
            <a:pPr lvl="1"/>
            <a:r>
              <a:rPr lang="hr-HR" sz="1600" dirty="0"/>
              <a:t>Visual Studio Code – razvojno okruženje</a:t>
            </a:r>
          </a:p>
          <a:p>
            <a:pPr lvl="1"/>
            <a:r>
              <a:rPr lang="hr-HR" sz="1600" dirty="0"/>
              <a:t>Selenium – automatizirano testiranje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B651FA-C7FD-0D3B-F72B-0A12DECB99B9}"/>
              </a:ext>
            </a:extLst>
          </p:cNvPr>
          <p:cNvSpPr txBox="1">
            <a:spLocks/>
          </p:cNvSpPr>
          <p:nvPr/>
        </p:nvSpPr>
        <p:spPr>
          <a:xfrm>
            <a:off x="71999" y="3662290"/>
            <a:ext cx="9000000" cy="136550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dirty="0"/>
              <a:t>Razmještaj i smještaj aplikavije:</a:t>
            </a:r>
            <a:endParaRPr lang="hr-HR" sz="800" dirty="0"/>
          </a:p>
          <a:p>
            <a:pPr lvl="1"/>
            <a:r>
              <a:rPr lang="hr-HR" sz="1600" dirty="0"/>
              <a:t>Docker – kontejnerizacija aplikacije</a:t>
            </a:r>
          </a:p>
          <a:p>
            <a:pPr lvl="1"/>
            <a:r>
              <a:rPr lang="hr-HR" sz="1600" dirty="0"/>
              <a:t>Render – hosting web servisa i baze podataka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9DD6AD-4CF3-70E2-052A-CAA3724EC0A2}"/>
              </a:ext>
            </a:extLst>
          </p:cNvPr>
          <p:cNvSpPr txBox="1">
            <a:spLocks/>
          </p:cNvSpPr>
          <p:nvPr/>
        </p:nvSpPr>
        <p:spPr>
          <a:xfrm>
            <a:off x="119684" y="4824447"/>
            <a:ext cx="9000000" cy="187994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10000"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dirty="0"/>
              <a:t>Vanjski servisi:</a:t>
            </a:r>
            <a:endParaRPr lang="hr-HR" sz="800" dirty="0"/>
          </a:p>
          <a:p>
            <a:pPr lvl="1"/>
            <a:r>
              <a:rPr lang="hr-HR" sz="1600" dirty="0"/>
              <a:t>SendGrid – slanje emailova</a:t>
            </a:r>
          </a:p>
          <a:p>
            <a:pPr lvl="1"/>
            <a:r>
              <a:rPr lang="hr-HR" sz="1600" dirty="0"/>
              <a:t>Google Translate API – prijevodi</a:t>
            </a:r>
          </a:p>
          <a:p>
            <a:pPr lvl="1"/>
            <a:r>
              <a:rPr lang="hr-HR" sz="1600" dirty="0"/>
              <a:t>TheFluentMe API – izgovor riječi</a:t>
            </a:r>
          </a:p>
          <a:p>
            <a:pPr lvl="1"/>
            <a:r>
              <a:rPr lang="hr-HR" sz="1600" dirty="0"/>
              <a:t>Dictionary API – dohvat fraza</a:t>
            </a:r>
          </a:p>
          <a:p>
            <a:pPr lvl="1"/>
            <a:r>
              <a:rPr lang="hr-HR" sz="1600" dirty="0"/>
              <a:t>Oauth 2.0 – sigurna autentifikacija</a:t>
            </a:r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 err="1"/>
              <a:t>Komunikacija</a:t>
            </a:r>
            <a:r>
              <a:rPr lang="en-GB" noProof="0" dirty="0"/>
              <a:t>: </a:t>
            </a:r>
            <a:r>
              <a:rPr lang="en-GB" dirty="0"/>
              <a:t>WhatsApp, Discord, </a:t>
            </a:r>
            <a:r>
              <a:rPr lang="en-GB" dirty="0" err="1"/>
              <a:t>sastanci</a:t>
            </a:r>
            <a:r>
              <a:rPr lang="en-GB" dirty="0"/>
              <a:t> u</a:t>
            </a:r>
            <a:r>
              <a:rPr lang="hr-HR" dirty="0"/>
              <a:t>živo</a:t>
            </a:r>
          </a:p>
          <a:p>
            <a:r>
              <a:rPr lang="hr-HR" dirty="0"/>
              <a:t>GitHub Issues ze evideciju zadataka</a:t>
            </a:r>
          </a:p>
          <a:p>
            <a:r>
              <a:rPr lang="hr-HR" dirty="0"/>
              <a:t>podjela odgovornosti po zadacima</a:t>
            </a:r>
          </a:p>
          <a:p>
            <a:endParaRPr lang="hr-HR" dirty="0"/>
          </a:p>
          <a:p>
            <a:r>
              <a:rPr lang="hr-HR" dirty="0"/>
              <a:t>Model životnog ciklusa: iterativni ad-hoc model razvoja, elementi Agile/Kanban pristupa</a:t>
            </a:r>
          </a:p>
          <a:p>
            <a:r>
              <a:rPr lang="hr-HR" dirty="0"/>
              <a:t>funkcionalnosti su razvijene paralelno i postupno nadograđivane</a:t>
            </a:r>
          </a:p>
          <a:p>
            <a:endParaRPr lang="hr-HR" noProof="0" dirty="0"/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ECEB-AD8F-FD22-BE50-77FDF662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AD45-556D-A607-401A-6CFD0333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podjela programskih zadataka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14CC-9A5E-B9E1-0A38-1B8A2566A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Frontend:</a:t>
            </a:r>
          </a:p>
          <a:p>
            <a:pPr lvl="1"/>
            <a:r>
              <a:rPr lang="hr-HR" dirty="0"/>
              <a:t>Login stranicu: Dora i Nikša</a:t>
            </a:r>
          </a:p>
          <a:p>
            <a:pPr lvl="1"/>
            <a:r>
              <a:rPr lang="hr-HR" noProof="0" dirty="0"/>
              <a:t>Admin</a:t>
            </a:r>
            <a:r>
              <a:rPr lang="hr-HR" dirty="0"/>
              <a:t> stranicu: Dora</a:t>
            </a:r>
          </a:p>
          <a:p>
            <a:pPr lvl="1"/>
            <a:r>
              <a:rPr lang="hr-HR" noProof="0" dirty="0"/>
              <a:t>User stranicu: Nikša</a:t>
            </a:r>
          </a:p>
          <a:p>
            <a:pPr lvl="1"/>
            <a:endParaRPr lang="hr-HR" dirty="0"/>
          </a:p>
          <a:p>
            <a:r>
              <a:rPr lang="hr-HR" noProof="0" dirty="0"/>
              <a:t>Backend:</a:t>
            </a:r>
          </a:p>
          <a:p>
            <a:pPr lvl="1"/>
            <a:r>
              <a:rPr lang="hr-HR" dirty="0"/>
              <a:t>API rute i funkcije: Eva</a:t>
            </a:r>
          </a:p>
          <a:p>
            <a:pPr lvl="1"/>
            <a:r>
              <a:rPr lang="hr-HR" dirty="0"/>
              <a:t>Baza podataka i vanjski API-ji: Ema</a:t>
            </a:r>
          </a:p>
          <a:p>
            <a:pPr lvl="1"/>
            <a:endParaRPr lang="hr-HR" noProof="0" dirty="0"/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290CB-720B-1FA2-0AE7-76BA8C25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55359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02190-4277-5BAE-1A5D-4740E5C2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6739-C297-21BC-9109-71C55EC8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podjela </a:t>
            </a:r>
            <a:r>
              <a:rPr lang="hr-HR" dirty="0"/>
              <a:t>dokumentacijskih </a:t>
            </a:r>
            <a:r>
              <a:rPr lang="en-US" dirty="0"/>
              <a:t>Z</a:t>
            </a:r>
            <a:r>
              <a:rPr lang="hr-HR" dirty="0" err="1"/>
              <a:t>adataka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E13F-0E3B-6525-20C0-2210D37FF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r-HR" noProof="0" dirty="0"/>
          </a:p>
          <a:p>
            <a:r>
              <a:rPr lang="en-US" noProof="0" dirty="0" err="1"/>
              <a:t>Ispunjavanje</a:t>
            </a:r>
            <a:r>
              <a:rPr lang="en-US" noProof="0" dirty="0"/>
              <a:t> </a:t>
            </a:r>
            <a:r>
              <a:rPr lang="en-US" noProof="0" dirty="0" err="1"/>
              <a:t>dokumentacije</a:t>
            </a:r>
            <a:r>
              <a:rPr lang="en-US" noProof="0" dirty="0"/>
              <a:t> se </a:t>
            </a:r>
            <a:r>
              <a:rPr lang="en-US" noProof="0" dirty="0" err="1"/>
              <a:t>vršilo</a:t>
            </a:r>
            <a:r>
              <a:rPr lang="en-US" noProof="0" dirty="0"/>
              <a:t> u </a:t>
            </a:r>
            <a:r>
              <a:rPr lang="en-US" noProof="0" dirty="0" err="1"/>
              <a:t>nekoliko</a:t>
            </a:r>
            <a:r>
              <a:rPr lang="en-US" noProof="0" dirty="0"/>
              <a:t> </a:t>
            </a:r>
            <a:r>
              <a:rPr lang="en-US" noProof="0" dirty="0" err="1"/>
              <a:t>faza</a:t>
            </a:r>
            <a:r>
              <a:rPr lang="en-US" noProof="0" dirty="0"/>
              <a:t>:</a:t>
            </a:r>
          </a:p>
          <a:p>
            <a:pPr lvl="1"/>
            <a:r>
              <a:rPr lang="en-US" dirty="0"/>
              <a:t>u </a:t>
            </a:r>
            <a:r>
              <a:rPr lang="en-US" dirty="0" err="1"/>
              <a:t>početku</a:t>
            </a:r>
            <a:r>
              <a:rPr lang="en-US" dirty="0"/>
              <a:t> je </a:t>
            </a:r>
            <a:r>
              <a:rPr lang="en-US" dirty="0" err="1"/>
              <a:t>cijela</a:t>
            </a:r>
            <a:r>
              <a:rPr lang="en-US" dirty="0"/>
              <a:t> </a:t>
            </a:r>
            <a:r>
              <a:rPr lang="en-US" dirty="0" err="1"/>
              <a:t>grupa</a:t>
            </a:r>
            <a:r>
              <a:rPr lang="en-US" dirty="0"/>
              <a:t> </a:t>
            </a:r>
            <a:r>
              <a:rPr lang="en-US" dirty="0" err="1"/>
              <a:t>pisala</a:t>
            </a:r>
            <a:r>
              <a:rPr lang="en-US" dirty="0"/>
              <a:t> </a:t>
            </a:r>
            <a:r>
              <a:rPr lang="en-US" dirty="0" err="1"/>
              <a:t>predložak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je </a:t>
            </a:r>
            <a:r>
              <a:rPr lang="en-US" dirty="0" err="1"/>
              <a:t>također</a:t>
            </a:r>
            <a:r>
              <a:rPr lang="en-US" dirty="0"/>
              <a:t> </a:t>
            </a:r>
            <a:r>
              <a:rPr lang="en-US" dirty="0" err="1"/>
              <a:t>zajedno</a:t>
            </a:r>
            <a:r>
              <a:rPr lang="en-US" dirty="0"/>
              <a:t> </a:t>
            </a:r>
            <a:r>
              <a:rPr lang="en-US" dirty="0" err="1"/>
              <a:t>analizirala</a:t>
            </a:r>
            <a:r>
              <a:rPr lang="en-US" dirty="0"/>
              <a:t> </a:t>
            </a:r>
            <a:r>
              <a:rPr lang="en-US" dirty="0" err="1"/>
              <a:t>zahtjeve</a:t>
            </a:r>
            <a:r>
              <a:rPr lang="en-US" dirty="0"/>
              <a:t> </a:t>
            </a:r>
          </a:p>
          <a:p>
            <a:pPr lvl="1"/>
            <a:r>
              <a:rPr lang="en-US" noProof="0" dirty="0" err="1"/>
              <a:t>specifikaciju</a:t>
            </a:r>
            <a:r>
              <a:rPr lang="en-US" noProof="0" dirty="0"/>
              <a:t> </a:t>
            </a:r>
            <a:r>
              <a:rPr lang="en-US" noProof="0" dirty="0" err="1"/>
              <a:t>zahtjeva</a:t>
            </a:r>
            <a:r>
              <a:rPr lang="en-US" noProof="0" dirty="0"/>
              <a:t> </a:t>
            </a:r>
            <a:r>
              <a:rPr lang="en-US" noProof="0" dirty="0" err="1"/>
              <a:t>sustava</a:t>
            </a:r>
            <a:r>
              <a:rPr lang="en-US" noProof="0" dirty="0"/>
              <a:t> </a:t>
            </a:r>
            <a:r>
              <a:rPr lang="en-US" noProof="0" dirty="0" err="1"/>
              <a:t>su</a:t>
            </a:r>
            <a:r>
              <a:rPr lang="en-US" noProof="0" dirty="0"/>
              <a:t> </a:t>
            </a:r>
            <a:r>
              <a:rPr lang="en-US" noProof="0" dirty="0" err="1"/>
              <a:t>radili</a:t>
            </a:r>
            <a:r>
              <a:rPr lang="en-US" noProof="0" dirty="0"/>
              <a:t> Ema Zebić, Filip </a:t>
            </a:r>
            <a:r>
              <a:rPr lang="en-US" noProof="0" dirty="0" err="1"/>
              <a:t>Jengić</a:t>
            </a:r>
            <a:r>
              <a:rPr lang="en-US" noProof="0" dirty="0"/>
              <a:t> I Fran Juričić</a:t>
            </a:r>
          </a:p>
          <a:p>
            <a:pPr lvl="1"/>
            <a:r>
              <a:rPr lang="en-US" dirty="0" err="1"/>
              <a:t>arhitekturu</a:t>
            </a:r>
            <a:r>
              <a:rPr lang="en-US" dirty="0"/>
              <a:t> I </a:t>
            </a:r>
            <a:r>
              <a:rPr lang="en-US" dirty="0" err="1"/>
              <a:t>dizajn</a:t>
            </a:r>
            <a:r>
              <a:rPr lang="en-US" dirty="0"/>
              <a:t> </a:t>
            </a:r>
            <a:r>
              <a:rPr lang="en-US" dirty="0" err="1"/>
              <a:t>sustava</a:t>
            </a:r>
            <a:r>
              <a:rPr lang="en-US" dirty="0"/>
              <a:t> je </a:t>
            </a:r>
            <a:r>
              <a:rPr lang="en-US" dirty="0" err="1"/>
              <a:t>razradio</a:t>
            </a:r>
            <a:r>
              <a:rPr lang="en-US" dirty="0"/>
              <a:t> Filip </a:t>
            </a:r>
            <a:r>
              <a:rPr lang="en-US" dirty="0" err="1"/>
              <a:t>Jengić</a:t>
            </a:r>
            <a:endParaRPr lang="en-US" dirty="0"/>
          </a:p>
          <a:p>
            <a:pPr lvl="1"/>
            <a:r>
              <a:rPr lang="en-US" dirty="0" err="1"/>
              <a:t>arhitekturu</a:t>
            </a:r>
            <a:r>
              <a:rPr lang="en-US" dirty="0"/>
              <a:t> </a:t>
            </a:r>
            <a:r>
              <a:rPr lang="en-US" dirty="0" err="1"/>
              <a:t>komponenata</a:t>
            </a:r>
            <a:r>
              <a:rPr lang="en-US" dirty="0"/>
              <a:t> I </a:t>
            </a:r>
            <a:r>
              <a:rPr lang="en-US" dirty="0" err="1"/>
              <a:t>razmještaja</a:t>
            </a:r>
            <a:r>
              <a:rPr lang="en-US" dirty="0"/>
              <a:t> je </a:t>
            </a:r>
            <a:r>
              <a:rPr lang="en-US" dirty="0" err="1"/>
              <a:t>razradio</a:t>
            </a:r>
            <a:r>
              <a:rPr lang="en-US" dirty="0"/>
              <a:t> Fran Juričić, a Filip </a:t>
            </a:r>
            <a:r>
              <a:rPr lang="en-US" dirty="0" err="1"/>
              <a:t>Jengić</a:t>
            </a:r>
            <a:r>
              <a:rPr lang="en-US" dirty="0"/>
              <a:t> je </a:t>
            </a:r>
            <a:r>
              <a:rPr lang="en-US" dirty="0" err="1"/>
              <a:t>ispitao</a:t>
            </a:r>
            <a:r>
              <a:rPr lang="en-US" dirty="0"/>
              <a:t> </a:t>
            </a:r>
            <a:r>
              <a:rPr lang="en-US" dirty="0" err="1"/>
              <a:t>programsko</a:t>
            </a:r>
            <a:r>
              <a:rPr lang="en-US" dirty="0"/>
              <a:t> </a:t>
            </a:r>
            <a:r>
              <a:rPr lang="en-US" dirty="0" err="1"/>
              <a:t>rješenje</a:t>
            </a:r>
            <a:r>
              <a:rPr lang="en-US" dirty="0"/>
              <a:t>, </a:t>
            </a:r>
            <a:r>
              <a:rPr lang="en-US" dirty="0" err="1"/>
              <a:t>popisao</a:t>
            </a:r>
            <a:r>
              <a:rPr lang="en-US" dirty="0"/>
              <a:t> </a:t>
            </a:r>
            <a:r>
              <a:rPr lang="en-US" dirty="0" err="1"/>
              <a:t>korištenu</a:t>
            </a:r>
            <a:r>
              <a:rPr lang="en-US" dirty="0"/>
              <a:t> </a:t>
            </a:r>
            <a:r>
              <a:rPr lang="en-US" dirty="0" err="1"/>
              <a:t>tehnologiju</a:t>
            </a:r>
            <a:r>
              <a:rPr lang="en-US" dirty="0"/>
              <a:t> I </a:t>
            </a:r>
            <a:r>
              <a:rPr lang="en-US" dirty="0" err="1"/>
              <a:t>upute</a:t>
            </a:r>
            <a:r>
              <a:rPr lang="en-US" dirty="0"/>
              <a:t> za </a:t>
            </a:r>
            <a:r>
              <a:rPr lang="en-US" dirty="0" err="1"/>
              <a:t>puštanje</a:t>
            </a:r>
            <a:r>
              <a:rPr lang="en-US" dirty="0"/>
              <a:t> u </a:t>
            </a:r>
            <a:r>
              <a:rPr lang="en-US" dirty="0" err="1"/>
              <a:t>pogon</a:t>
            </a:r>
            <a:endParaRPr lang="en-US" dirty="0"/>
          </a:p>
          <a:p>
            <a:pPr lvl="1"/>
            <a:r>
              <a:rPr lang="en-US" noProof="0" dirty="0" err="1"/>
              <a:t>Naposlijetku</a:t>
            </a:r>
            <a:r>
              <a:rPr lang="en-US" dirty="0"/>
              <a:t>, Fran Juričić je </a:t>
            </a:r>
            <a:r>
              <a:rPr lang="en-US" dirty="0" err="1"/>
              <a:t>dopunio</a:t>
            </a:r>
            <a:r>
              <a:rPr lang="en-US" dirty="0"/>
              <a:t> </a:t>
            </a:r>
            <a:r>
              <a:rPr lang="en-US" dirty="0" err="1"/>
              <a:t>popis</a:t>
            </a:r>
            <a:r>
              <a:rPr lang="en-US" dirty="0"/>
              <a:t> literature I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aktivnosti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, a Filip </a:t>
            </a:r>
            <a:r>
              <a:rPr lang="en-US" dirty="0" err="1"/>
              <a:t>Jengić</a:t>
            </a:r>
            <a:r>
              <a:rPr lang="en-US" dirty="0"/>
              <a:t> je </a:t>
            </a:r>
            <a:r>
              <a:rPr lang="en-US" dirty="0" err="1"/>
              <a:t>napisao</a:t>
            </a:r>
            <a:r>
              <a:rPr lang="en-US" dirty="0"/>
              <a:t> </a:t>
            </a:r>
            <a:r>
              <a:rPr lang="en-US" dirty="0" err="1"/>
              <a:t>zaključak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5DE02-8FCE-8404-AFC4-D784680D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57960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A979-52E4-56F6-D819-32C1EC279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9907-D71D-B3B6-B52A-B9801365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Tablica raščlambe zadataka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DFDC2-277B-DC70-8DDC-AB336850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29ADF-5DDC-26DC-B3AC-29BB96551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76" y="1137033"/>
            <a:ext cx="5252884" cy="550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38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Pokazati ključne funkcionalnosti uživo.</a:t>
            </a:r>
          </a:p>
          <a:p>
            <a:r>
              <a:rPr lang="hr-HR" dirty="0"/>
              <a:t>Fokus na izazove i rješenja (1-2 primjera).</a:t>
            </a:r>
            <a:endParaRPr lang="en-US" dirty="0"/>
          </a:p>
          <a:p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:</a:t>
            </a:r>
          </a:p>
          <a:p>
            <a:pPr lvl="1"/>
            <a:r>
              <a:rPr lang="en-US" dirty="0"/>
              <a:t>1. </a:t>
            </a:r>
            <a:r>
              <a:rPr lang="en-US" dirty="0" err="1"/>
              <a:t>korisnik</a:t>
            </a:r>
            <a:r>
              <a:rPr lang="en-US" dirty="0"/>
              <a:t> se </a:t>
            </a:r>
            <a:r>
              <a:rPr lang="en-US" dirty="0" err="1"/>
              <a:t>prijavljuje</a:t>
            </a:r>
            <a:r>
              <a:rPr lang="en-US" dirty="0"/>
              <a:t> u </a:t>
            </a:r>
            <a:r>
              <a:rPr lang="en-US" dirty="0" err="1"/>
              <a:t>sustav</a:t>
            </a:r>
            <a:r>
              <a:rPr lang="en-US" dirty="0"/>
              <a:t>, </a:t>
            </a:r>
            <a:r>
              <a:rPr lang="en-US" dirty="0" err="1"/>
              <a:t>mijenja</a:t>
            </a:r>
            <a:r>
              <a:rPr lang="en-US" dirty="0"/>
              <a:t> </a:t>
            </a:r>
            <a:r>
              <a:rPr lang="en-US" dirty="0" err="1"/>
              <a:t>lozinku</a:t>
            </a:r>
            <a:r>
              <a:rPr lang="en-US" dirty="0"/>
              <a:t>, </a:t>
            </a:r>
            <a:r>
              <a:rPr lang="en-US" dirty="0" err="1"/>
              <a:t>odjavljuje</a:t>
            </a:r>
            <a:r>
              <a:rPr lang="en-US" dirty="0"/>
              <a:t> se I </a:t>
            </a:r>
            <a:r>
              <a:rPr lang="en-US" dirty="0" err="1"/>
              <a:t>prijavljuje</a:t>
            </a:r>
            <a:r>
              <a:rPr lang="en-US" dirty="0"/>
              <a:t> </a:t>
            </a:r>
            <a:r>
              <a:rPr lang="en-US" dirty="0" err="1"/>
              <a:t>novom</a:t>
            </a:r>
            <a:r>
              <a:rPr lang="en-US" dirty="0"/>
              <a:t> </a:t>
            </a:r>
            <a:r>
              <a:rPr lang="en-US" dirty="0" err="1"/>
              <a:t>lozinkom</a:t>
            </a:r>
            <a:endParaRPr lang="en-US" dirty="0"/>
          </a:p>
          <a:p>
            <a:pPr lvl="1"/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17</a:t>
            </a:fld>
            <a:endParaRPr lang="hr-HR" dirty="0"/>
          </a:p>
        </p:txBody>
      </p:sp>
      <p:pic>
        <p:nvPicPr>
          <p:cNvPr id="6" name="Slika 5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C25475D2-8E7B-67AA-1D3A-8083F904B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3177298"/>
            <a:ext cx="3636085" cy="2844124"/>
          </a:xfrm>
          <a:prstGeom prst="rect">
            <a:avLst/>
          </a:prstGeom>
        </p:spPr>
      </p:pic>
      <p:pic>
        <p:nvPicPr>
          <p:cNvPr id="8" name="Slika 7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9166EA0B-09B3-A384-E658-26DDE57F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16" y="3177299"/>
            <a:ext cx="3517289" cy="284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D03203A-4683-2E5B-6913-812CCC50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DEMONSTRACIJA APLIKACIJE</a:t>
            </a:r>
            <a:endParaRPr lang="en-15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5853E9D-C254-0759-B4A6-7AE0DC9B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Administrator </a:t>
            </a:r>
            <a:r>
              <a:rPr lang="en-US" sz="1800" dirty="0" err="1"/>
              <a:t>izrađuje</a:t>
            </a:r>
            <a:r>
              <a:rPr lang="en-US" sz="1800" dirty="0"/>
              <a:t> novi </a:t>
            </a:r>
            <a:r>
              <a:rPr lang="en-US" sz="1800" dirty="0" err="1"/>
              <a:t>riječnik</a:t>
            </a:r>
            <a:r>
              <a:rPr lang="en-US" sz="1800" dirty="0"/>
              <a:t>, </a:t>
            </a:r>
            <a:r>
              <a:rPr lang="en-US" sz="1800" dirty="0" err="1"/>
              <a:t>dodaje</a:t>
            </a:r>
            <a:r>
              <a:rPr lang="en-US" sz="1800" dirty="0"/>
              <a:t> </a:t>
            </a:r>
            <a:r>
              <a:rPr lang="en-US" sz="1800" dirty="0" err="1"/>
              <a:t>nove</a:t>
            </a:r>
            <a:r>
              <a:rPr lang="en-US" sz="1800" dirty="0"/>
              <a:t> </a:t>
            </a:r>
            <a:r>
              <a:rPr lang="en-US" sz="1800" dirty="0" err="1"/>
              <a:t>riječi</a:t>
            </a:r>
            <a:endParaRPr lang="en-150" sz="1800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6D11712-D855-C145-5002-3FA7872D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18</a:t>
            </a:fld>
            <a:endParaRPr lang="hr-HR"/>
          </a:p>
        </p:txBody>
      </p:sp>
      <p:pic>
        <p:nvPicPr>
          <p:cNvPr id="6" name="Slika 5" descr="Slika na kojoj se prikazuje tekst, snimka zaslona, softver, Font&#10;&#10;Sadržaj generiran uz AI možda nije točan.">
            <a:extLst>
              <a:ext uri="{FF2B5EF4-FFF2-40B4-BE49-F238E27FC236}">
                <a16:creationId xmlns:a16="http://schemas.microsoft.com/office/drawing/2014/main" id="{4B3A753C-AE29-19B8-CCC7-39E7CE82E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67" y="1518326"/>
            <a:ext cx="3333153" cy="2849394"/>
          </a:xfrm>
          <a:prstGeom prst="rect">
            <a:avLst/>
          </a:prstGeom>
        </p:spPr>
      </p:pic>
      <p:pic>
        <p:nvPicPr>
          <p:cNvPr id="8" name="Slika 7" descr="Slika na kojoj se prikazuje tekst, snimka zaslona, softver, Ikona na računalu&#10;&#10;Sadržaj generiran uz AI možda nije točan.">
            <a:extLst>
              <a:ext uri="{FF2B5EF4-FFF2-40B4-BE49-F238E27FC236}">
                <a16:creationId xmlns:a16="http://schemas.microsoft.com/office/drawing/2014/main" id="{12209131-A7AE-D7E2-E355-43B5F41B9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312" y="1458294"/>
            <a:ext cx="3962294" cy="442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5949AFE-D2E9-AA45-220C-402D8A1A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DEMONSTRACIJA APLIKACIJE</a:t>
            </a:r>
            <a:endParaRPr lang="en-15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8091A13-EFDA-BC76-3291-B8547AADD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 err="1"/>
              <a:t>Korijenski</a:t>
            </a:r>
            <a:r>
              <a:rPr lang="de-DE" sz="1800" dirty="0"/>
              <a:t> </a:t>
            </a:r>
            <a:r>
              <a:rPr lang="de-DE" sz="1800" dirty="0" err="1"/>
              <a:t>dodjeljuje</a:t>
            </a:r>
            <a:r>
              <a:rPr lang="de-DE" sz="1800" dirty="0"/>
              <a:t> </a:t>
            </a:r>
            <a:r>
              <a:rPr lang="de-DE" sz="1800" dirty="0" err="1"/>
              <a:t>administratorske</a:t>
            </a:r>
            <a:r>
              <a:rPr lang="de-DE" sz="1800" dirty="0"/>
              <a:t> </a:t>
            </a:r>
            <a:r>
              <a:rPr lang="de-DE" sz="1800" dirty="0" err="1"/>
              <a:t>ovlasti</a:t>
            </a:r>
            <a:r>
              <a:rPr lang="de-DE" sz="1800" dirty="0"/>
              <a:t> </a:t>
            </a:r>
            <a:r>
              <a:rPr lang="de-DE" sz="1800" dirty="0" err="1"/>
              <a:t>običnom</a:t>
            </a:r>
            <a:r>
              <a:rPr lang="de-DE" sz="1800" dirty="0"/>
              <a:t> </a:t>
            </a:r>
            <a:r>
              <a:rPr lang="de-DE" sz="1800" dirty="0" err="1"/>
              <a:t>korisniku</a:t>
            </a:r>
            <a:endParaRPr lang="en-150" sz="1800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A8B274E-5D42-E529-4502-7D45CA68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19</a:t>
            </a:fld>
            <a:endParaRPr lang="hr-HR"/>
          </a:p>
        </p:txBody>
      </p:sp>
      <p:pic>
        <p:nvPicPr>
          <p:cNvPr id="6" name="Slika 5" descr="Slika na kojoj se prikazuje tekst, snimka zaslona, broj, Font&#10;&#10;Sadržaj generiran uz AI možda nije točan.">
            <a:extLst>
              <a:ext uri="{FF2B5EF4-FFF2-40B4-BE49-F238E27FC236}">
                <a16:creationId xmlns:a16="http://schemas.microsoft.com/office/drawing/2014/main" id="{32F3B651-CB20-2718-F7B5-5B6D0825A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971" y="1804312"/>
            <a:ext cx="5362170" cy="425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09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lekcije: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podjela uloga unuar tima</a:t>
            </a:r>
          </a:p>
          <a:p>
            <a:pPr lvl="1"/>
            <a:r>
              <a:rPr lang="hr-HR" noProof="0" dirty="0">
                <a:sym typeface="Wingdings" panose="05000000000000000000" pitchFamily="2" charset="2"/>
              </a:rPr>
              <a:t>dobra suradja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integracije novih tehnologija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dirty="0"/>
          </a:p>
          <a:p>
            <a:r>
              <a:rPr lang="hr-HR" noProof="0" dirty="0"/>
              <a:t>Izazovi:</a:t>
            </a:r>
          </a:p>
          <a:p>
            <a:pPr lvl="1"/>
            <a:r>
              <a:rPr lang="hr-HR" dirty="0"/>
              <a:t>i</a:t>
            </a:r>
            <a:r>
              <a:rPr lang="hr-HR" noProof="0" dirty="0"/>
              <a:t>mplementacija logike učenja po “posudama”</a:t>
            </a:r>
          </a:p>
          <a:p>
            <a:pPr lvl="1"/>
            <a:r>
              <a:rPr lang="hr-HR" dirty="0"/>
              <a:t>u</a:t>
            </a:r>
            <a:r>
              <a:rPr lang="en-GB" dirty="0" err="1"/>
              <a:t>pravljanje</a:t>
            </a:r>
            <a:r>
              <a:rPr lang="en-GB" dirty="0"/>
              <a:t> </a:t>
            </a:r>
            <a:r>
              <a:rPr lang="en-GB" dirty="0" err="1"/>
              <a:t>korisničkim</a:t>
            </a:r>
            <a:r>
              <a:rPr lang="en-GB" dirty="0"/>
              <a:t> </a:t>
            </a:r>
            <a:r>
              <a:rPr lang="en-GB" dirty="0" err="1"/>
              <a:t>ulogama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autorizacijom</a:t>
            </a:r>
            <a:endParaRPr lang="hr-HR" dirty="0"/>
          </a:p>
          <a:p>
            <a:pPr lvl="1"/>
            <a:r>
              <a:rPr lang="hr-HR" dirty="0"/>
              <a:t>t</a:t>
            </a:r>
            <a:r>
              <a:rPr lang="en-GB" dirty="0" err="1"/>
              <a:t>estiranje</a:t>
            </a:r>
            <a:r>
              <a:rPr lang="en-GB" dirty="0"/>
              <a:t> </a:t>
            </a:r>
            <a:r>
              <a:rPr lang="en-GB" dirty="0" err="1"/>
              <a:t>rubnih</a:t>
            </a:r>
            <a:r>
              <a:rPr lang="en-GB" dirty="0"/>
              <a:t> </a:t>
            </a:r>
            <a:r>
              <a:rPr lang="en-GB" dirty="0" err="1"/>
              <a:t>slučajeva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robusnosti</a:t>
            </a:r>
            <a:r>
              <a:rPr lang="en-GB" dirty="0"/>
              <a:t> </a:t>
            </a:r>
            <a:r>
              <a:rPr lang="en-GB" dirty="0" err="1"/>
              <a:t>sustava</a:t>
            </a:r>
            <a:endParaRPr lang="hr-HR" noProof="0" dirty="0"/>
          </a:p>
          <a:p>
            <a:pPr lvl="1"/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i="1" noProof="0" dirty="0"/>
              <a:t>Nekoliko savjeta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10-15 slajdova je sasvim dovoljno – istaknite samo najvažnije činjenice</a:t>
            </a:r>
          </a:p>
          <a:p>
            <a:r>
              <a:rPr lang="hr-HR" noProof="0" dirty="0"/>
              <a:t>Prezentaciju možete grafički urediti prema svojem nahođenju uz ograničenja:</a:t>
            </a:r>
          </a:p>
          <a:p>
            <a:pPr lvl="1"/>
            <a:r>
              <a:rPr lang="hr-HR" noProof="0" dirty="0"/>
              <a:t>Obavezan sadržaj naslovne stranice</a:t>
            </a:r>
          </a:p>
          <a:p>
            <a:pPr lvl="1"/>
            <a:r>
              <a:rPr lang="hr-HR" noProof="0" dirty="0"/>
              <a:t>Obavezni brojevi stranica</a:t>
            </a:r>
          </a:p>
          <a:p>
            <a:r>
              <a:rPr lang="hr-HR" b="1" noProof="0" dirty="0"/>
              <a:t>Priprema izlaganja na satu:</a:t>
            </a:r>
          </a:p>
          <a:p>
            <a:pPr lvl="1"/>
            <a:r>
              <a:rPr lang="hr-HR" noProof="0" dirty="0"/>
              <a:t>Pokrenite sve potrebne programe i alate na računalu prije početka Vašeg izlaganja te provjerite kompatibilnost opreme!</a:t>
            </a:r>
          </a:p>
          <a:p>
            <a:pPr lvl="2"/>
            <a:r>
              <a:rPr lang="hr-HR" dirty="0"/>
              <a:t>Standardni HDMI priključak. Eduraom.</a:t>
            </a:r>
            <a:endParaRPr lang="hr-HR" noProof="0" dirty="0"/>
          </a:p>
          <a:p>
            <a:pPr lvl="1"/>
            <a:r>
              <a:rPr lang="pl-PL" dirty="0"/>
              <a:t>Vježbati izlaganje u 15 minuta.</a:t>
            </a:r>
          </a:p>
          <a:p>
            <a:pPr lvl="1"/>
            <a:r>
              <a:rPr lang="hr-HR" b="1" noProof="0" dirty="0"/>
              <a:t>Poštujte zadani vremenski okvir!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1737146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1403</TotalTime>
  <Words>888</Words>
  <Application>Microsoft Office PowerPoint</Application>
  <PresentationFormat>Prikaz na zaslonu (4:3)</PresentationFormat>
  <Paragraphs>190</Paragraphs>
  <Slides>21</Slides>
  <Notes>4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21</vt:i4>
      </vt:variant>
    </vt:vector>
  </HeadingPairs>
  <TitlesOfParts>
    <vt:vector size="35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Flip memo</vt:lpstr>
      <vt:lpstr>Sadržaj</vt:lpstr>
      <vt:lpstr>Sadržaj</vt:lpstr>
      <vt:lpstr>Članovi grupe</vt:lpstr>
      <vt:lpstr>O projektu</vt:lpstr>
      <vt:lpstr>funkcionalni zahtjevi</vt:lpstr>
      <vt:lpstr>nefunkcionalni zahtjevi</vt:lpstr>
      <vt:lpstr>UML dijagram obrazaca uporabe</vt:lpstr>
      <vt:lpstr>Arhitektura sustava</vt:lpstr>
      <vt:lpstr>dijagram arhitekture</vt:lpstr>
      <vt:lpstr>Ispitivanje</vt:lpstr>
      <vt:lpstr>Korišteni alati i tehnologije</vt:lpstr>
      <vt:lpstr>Organizacija rada</vt:lpstr>
      <vt:lpstr>podjela programskih zadataka</vt:lpstr>
      <vt:lpstr>podjela dokumentacijskih Zadataka</vt:lpstr>
      <vt:lpstr>Tablica raščlambe zadataka</vt:lpstr>
      <vt:lpstr>Demonstracija aplikacije</vt:lpstr>
      <vt:lpstr>DEMONSTRACIJA APLIKACIJE</vt:lpstr>
      <vt:lpstr>DEMONSTRACIJA APLIKACIJE</vt:lpstr>
      <vt:lpstr>Zaključak</vt:lpstr>
      <vt:lpstr>Nekoliko savjeta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Fran</cp:lastModifiedBy>
  <cp:revision>25</cp:revision>
  <dcterms:created xsi:type="dcterms:W3CDTF">2016-01-18T13:10:52Z</dcterms:created>
  <dcterms:modified xsi:type="dcterms:W3CDTF">2026-01-23T18:26:01Z</dcterms:modified>
</cp:coreProperties>
</file>